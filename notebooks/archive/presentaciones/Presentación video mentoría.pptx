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5a6b03d0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5a6b03d0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c252996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c252996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5a6b03d0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5a6b03d0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5a6b03d0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5a6b03d0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c50742a1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c50742a1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d5e95272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8d5e95272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d5e95272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8d5e95272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bc5b6e83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bc5b6e83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d5e95272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d5e95272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488e971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488e971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d5e95272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d5e95272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c50742a1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8c50742a1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d5e95272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8d5e95272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d5e95272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8d5e95272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huggingface.co/pysentimiento/robertuito-sentiment-analysis" TargetMode="External"/><Relationship Id="rId4" Type="http://schemas.openxmlformats.org/officeDocument/2006/relationships/image" Target="../media/image4.png"/><Relationship Id="rId5" Type="http://schemas.openxmlformats.org/officeDocument/2006/relationships/hyperlink" Target="https://huggingface.co/meta-llama/Llama-3.2-3B-Instruct" TargetMode="External"/><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399116"/>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s"/>
              <a:t>Tweets sobre obesidad en Argentina: De qu</a:t>
            </a:r>
            <a:r>
              <a:rPr lang="es"/>
              <a:t>é se habla?</a:t>
            </a:r>
            <a:endParaRPr/>
          </a:p>
        </p:txBody>
      </p:sp>
      <p:sp>
        <p:nvSpPr>
          <p:cNvPr id="55" name="Google Shape;55;p13"/>
          <p:cNvSpPr txBox="1"/>
          <p:nvPr>
            <p:ph idx="1" type="subTitle"/>
          </p:nvPr>
        </p:nvSpPr>
        <p:spPr>
          <a:xfrm>
            <a:off x="311700" y="2834125"/>
            <a:ext cx="8520600" cy="189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chemeClr val="dk1"/>
                </a:solidFill>
              </a:rPr>
              <a:t>Julia Plavnik</a:t>
            </a:r>
            <a:endParaRPr>
              <a:solidFill>
                <a:schemeClr val="dk1"/>
              </a:solidFill>
            </a:endParaRPr>
          </a:p>
          <a:p>
            <a:pPr indent="0" lvl="0" marL="0" rtl="0" algn="l">
              <a:spcBef>
                <a:spcPts val="0"/>
              </a:spcBef>
              <a:spcAft>
                <a:spcPts val="0"/>
              </a:spcAft>
              <a:buNone/>
            </a:pPr>
            <a:r>
              <a:rPr lang="es">
                <a:solidFill>
                  <a:schemeClr val="dk1"/>
                </a:solidFill>
              </a:rPr>
              <a:t>Ezequiel Mu</a:t>
            </a:r>
            <a:r>
              <a:rPr lang="es">
                <a:solidFill>
                  <a:schemeClr val="dk1"/>
                </a:solidFill>
              </a:rPr>
              <a:t>ñoz</a:t>
            </a:r>
            <a:endParaRPr>
              <a:solidFill>
                <a:schemeClr val="dk1"/>
              </a:solidFill>
            </a:endParaRPr>
          </a:p>
          <a:p>
            <a:pPr indent="0" lvl="0" marL="0" rtl="0" algn="l">
              <a:spcBef>
                <a:spcPts val="0"/>
              </a:spcBef>
              <a:spcAft>
                <a:spcPts val="0"/>
              </a:spcAft>
              <a:buNone/>
            </a:pPr>
            <a:r>
              <a:rPr lang="es">
                <a:solidFill>
                  <a:schemeClr val="dk1"/>
                </a:solidFill>
              </a:rPr>
              <a:t>Micaela Reta Ascuy</a:t>
            </a:r>
            <a:endParaRPr>
              <a:solidFill>
                <a:schemeClr val="dk1"/>
              </a:solidFill>
            </a:endParaRPr>
          </a:p>
          <a:p>
            <a:pPr indent="0" lvl="0" marL="0" rtl="0" algn="r">
              <a:spcBef>
                <a:spcPts val="0"/>
              </a:spcBef>
              <a:spcAft>
                <a:spcPts val="0"/>
              </a:spcAft>
              <a:buNone/>
            </a:pPr>
            <a:r>
              <a:rPr lang="es">
                <a:solidFill>
                  <a:schemeClr val="dk1"/>
                </a:solidFill>
              </a:rPr>
              <a:t>Mentora: Eugenia Haluszka</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Objetivo</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s">
                <a:solidFill>
                  <a:schemeClr val="dk1"/>
                </a:solidFill>
              </a:rPr>
              <a:t>El objetivo de nuestro análisis es detectar temáticas emergentes y latentes en el contenido compartido en Twitter sobre obesidad en Argentina, a partir del análisis de los cuerpos de texto de los tweets, sin usar etiquetas predefinidas. </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Nos interesa responder a la pregunta: </a:t>
            </a:r>
            <a:r>
              <a:rPr lang="es">
                <a:solidFill>
                  <a:schemeClr val="dk1"/>
                </a:solidFill>
              </a:rPr>
              <a:t>¿Cuáles son los principales temas de conversación sobre obesidad en Twitter?</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405250" y="164798"/>
            <a:ext cx="8520600" cy="614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2400"/>
              <a:t>Contexto del proyecto</a:t>
            </a:r>
            <a:endParaRPr sz="2400"/>
          </a:p>
        </p:txBody>
      </p:sp>
      <p:sp>
        <p:nvSpPr>
          <p:cNvPr id="67" name="Google Shape;67;p15"/>
          <p:cNvSpPr txBox="1"/>
          <p:nvPr>
            <p:ph idx="4294967295" type="body"/>
          </p:nvPr>
        </p:nvSpPr>
        <p:spPr>
          <a:xfrm>
            <a:off x="311700" y="912950"/>
            <a:ext cx="8520600" cy="39900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s">
                <a:solidFill>
                  <a:schemeClr val="dk1"/>
                </a:solidFill>
              </a:rPr>
              <a:t>Análisis de 11.111 tuits sobre obesidad (enero–diciembre 2024)</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Recolección vía </a:t>
            </a:r>
            <a:r>
              <a:rPr i="1" lang="es">
                <a:solidFill>
                  <a:schemeClr val="dk1"/>
                </a:solidFill>
              </a:rPr>
              <a:t>twscrape</a:t>
            </a:r>
            <a:r>
              <a:rPr lang="es">
                <a:solidFill>
                  <a:schemeClr val="dk1"/>
                </a:solidFill>
              </a:rPr>
              <a:t>, palabras clave relacionadas con “obesidad”.</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Limpieza profunda del dataset:</a:t>
            </a:r>
            <a:endParaRPr>
              <a:solidFill>
                <a:schemeClr val="dk1"/>
              </a:solidFill>
            </a:endParaRPr>
          </a:p>
          <a:p>
            <a:pPr indent="-342900" lvl="1" marL="914400" rtl="0" algn="l">
              <a:lnSpc>
                <a:spcPct val="150000"/>
              </a:lnSpc>
              <a:spcBef>
                <a:spcPts val="0"/>
              </a:spcBef>
              <a:spcAft>
                <a:spcPts val="0"/>
              </a:spcAft>
              <a:buClr>
                <a:schemeClr val="dk1"/>
              </a:buClr>
              <a:buSzPts val="1800"/>
              <a:buChar char="○"/>
            </a:pPr>
            <a:r>
              <a:rPr lang="es" sz="1800">
                <a:solidFill>
                  <a:schemeClr val="dk1"/>
                </a:solidFill>
              </a:rPr>
              <a:t> Eliminación de tuits duplicados, irrelevantes y en otros idiomas.</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s" sz="1800">
                <a:solidFill>
                  <a:schemeClr val="dk1"/>
                </a:solidFill>
              </a:rPr>
              <a:t> Normalización del texto (emojis, risas, caracteres repetidos).</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 Etiquetado gramatical (</a:t>
            </a:r>
            <a:r>
              <a:rPr i="1" lang="es">
                <a:solidFill>
                  <a:schemeClr val="dk1"/>
                </a:solidFill>
              </a:rPr>
              <a:t>spaCy</a:t>
            </a:r>
            <a:r>
              <a:rPr lang="es">
                <a:solidFill>
                  <a:schemeClr val="dk1"/>
                </a:solidFill>
              </a:rPr>
              <a:t>).</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Análisis de sentimiento (</a:t>
            </a:r>
            <a:r>
              <a:rPr i="1" lang="es">
                <a:solidFill>
                  <a:schemeClr val="dk1"/>
                </a:solidFill>
              </a:rPr>
              <a:t>PySentimiento</a:t>
            </a:r>
            <a:r>
              <a:rPr lang="es">
                <a:solidFill>
                  <a:schemeClr val="dk1"/>
                </a:solidFill>
              </a:rPr>
              <a:t> / </a:t>
            </a:r>
            <a:r>
              <a:rPr i="1" lang="es">
                <a:solidFill>
                  <a:schemeClr val="dk1"/>
                </a:solidFill>
              </a:rPr>
              <a:t>Llama</a:t>
            </a:r>
            <a:r>
              <a:rPr lang="es">
                <a:solidFill>
                  <a:schemeClr val="dk1"/>
                </a:solidFill>
              </a:rPr>
              <a:t>).</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 Predominio de tono negativo, con presencia de lenguaje ofensivo y descriptores físicos.</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Principales Hallazgos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s">
                <a:solidFill>
                  <a:schemeClr val="dk1"/>
                </a:solidFill>
              </a:rPr>
              <a:t> Alta correlación entre tipos de interacción (likes, retweets, respuestas).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 Identificación de tópicos preliminares.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s">
                <a:solidFill>
                  <a:schemeClr val="dk1"/>
                </a:solidFill>
              </a:rPr>
              <a:t> Se detectaron patrones lingüísticos y tendencia negativa en referencia a la obesidad.</a:t>
            </a:r>
            <a:endParaRPr/>
          </a:p>
        </p:txBody>
      </p:sp>
      <p:pic>
        <p:nvPicPr>
          <p:cNvPr id="74" name="Google Shape;74;p16" title="newplot (18).png">
            <a:hlinkClick r:id="rId3"/>
          </p:cNvPr>
          <p:cNvPicPr preferRelativeResize="0"/>
          <p:nvPr/>
        </p:nvPicPr>
        <p:blipFill rotWithShape="1">
          <a:blip r:embed="rId4">
            <a:alphaModFix/>
          </a:blip>
          <a:srcRect b="0" l="0" r="0" t="0"/>
          <a:stretch/>
        </p:blipFill>
        <p:spPr>
          <a:xfrm>
            <a:off x="2821000" y="2639000"/>
            <a:ext cx="2215025" cy="2215025"/>
          </a:xfrm>
          <a:prstGeom prst="rect">
            <a:avLst/>
          </a:prstGeom>
          <a:noFill/>
          <a:ln>
            <a:noFill/>
          </a:ln>
        </p:spPr>
      </p:pic>
      <p:pic>
        <p:nvPicPr>
          <p:cNvPr id="75" name="Google Shape;75;p16" title="newplot (17).png">
            <a:hlinkClick r:id="rId5"/>
          </p:cNvPr>
          <p:cNvPicPr preferRelativeResize="0"/>
          <p:nvPr/>
        </p:nvPicPr>
        <p:blipFill rotWithShape="1">
          <a:blip r:embed="rId6">
            <a:alphaModFix/>
          </a:blip>
          <a:srcRect b="0" l="0" r="0" t="0"/>
          <a:stretch/>
        </p:blipFill>
        <p:spPr>
          <a:xfrm>
            <a:off x="5167800" y="2631918"/>
            <a:ext cx="2215025" cy="2215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Primeras exploraciones</a:t>
            </a:r>
            <a:endParaRPr/>
          </a:p>
        </p:txBody>
      </p:sp>
      <p:pic>
        <p:nvPicPr>
          <p:cNvPr id="81" name="Google Shape;81;p17" title="newplot (12).png"/>
          <p:cNvPicPr preferRelativeResize="0"/>
          <p:nvPr/>
        </p:nvPicPr>
        <p:blipFill>
          <a:blip r:embed="rId3">
            <a:alphaModFix/>
          </a:blip>
          <a:stretch>
            <a:fillRect/>
          </a:stretch>
        </p:blipFill>
        <p:spPr>
          <a:xfrm>
            <a:off x="280975" y="1067537"/>
            <a:ext cx="5852825" cy="2205826"/>
          </a:xfrm>
          <a:prstGeom prst="rect">
            <a:avLst/>
          </a:prstGeom>
          <a:noFill/>
          <a:ln>
            <a:noFill/>
          </a:ln>
        </p:spPr>
      </p:pic>
      <p:pic>
        <p:nvPicPr>
          <p:cNvPr id="82" name="Google Shape;82;p17" title="newplot (13).png"/>
          <p:cNvPicPr preferRelativeResize="0"/>
          <p:nvPr/>
        </p:nvPicPr>
        <p:blipFill>
          <a:blip r:embed="rId4">
            <a:alphaModFix/>
          </a:blip>
          <a:stretch>
            <a:fillRect/>
          </a:stretch>
        </p:blipFill>
        <p:spPr>
          <a:xfrm>
            <a:off x="280975" y="2994937"/>
            <a:ext cx="5906574" cy="2110175"/>
          </a:xfrm>
          <a:prstGeom prst="rect">
            <a:avLst/>
          </a:prstGeom>
          <a:noFill/>
          <a:ln>
            <a:noFill/>
          </a:ln>
        </p:spPr>
      </p:pic>
      <p:sp>
        <p:nvSpPr>
          <p:cNvPr id="83" name="Google Shape;83;p17"/>
          <p:cNvSpPr txBox="1"/>
          <p:nvPr/>
        </p:nvSpPr>
        <p:spPr>
          <a:xfrm>
            <a:off x="6133800" y="1435560"/>
            <a:ext cx="2970900" cy="32118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Char char="●"/>
            </a:pPr>
            <a:r>
              <a:rPr lang="es" sz="1200">
                <a:solidFill>
                  <a:schemeClr val="dk1"/>
                </a:solidFill>
              </a:rPr>
              <a:t>Empezamos por el uso de solo sustantivos: no permitió encontrar clústeres coherentes.</a:t>
            </a:r>
            <a:endParaRPr sz="1200">
              <a:solidFill>
                <a:schemeClr val="dk1"/>
              </a:solidFill>
            </a:endParaRPr>
          </a:p>
          <a:p>
            <a:pPr indent="-304800" lvl="0" marL="457200" rtl="0" algn="l">
              <a:spcBef>
                <a:spcPts val="1000"/>
              </a:spcBef>
              <a:spcAft>
                <a:spcPts val="0"/>
              </a:spcAft>
              <a:buClr>
                <a:schemeClr val="dk1"/>
              </a:buClr>
              <a:buSzPts val="1200"/>
              <a:buChar char="●"/>
            </a:pPr>
            <a:r>
              <a:rPr lang="es" sz="1200">
                <a:solidFill>
                  <a:schemeClr val="dk1"/>
                </a:solidFill>
              </a:rPr>
              <a:t>Word2Vec ofreció mayor coherencia semántica promedio que BERT, aunque ambos superan a TF-IDF al captar relaciones de significado.</a:t>
            </a:r>
            <a:endParaRPr sz="1200">
              <a:solidFill>
                <a:schemeClr val="dk1"/>
              </a:solidFill>
            </a:endParaRPr>
          </a:p>
          <a:p>
            <a:pPr indent="-304800" lvl="0" marL="457200" rtl="0" algn="l">
              <a:spcBef>
                <a:spcPts val="1000"/>
              </a:spcBef>
              <a:spcAft>
                <a:spcPts val="0"/>
              </a:spcAft>
              <a:buClr>
                <a:schemeClr val="dk1"/>
              </a:buClr>
              <a:buSzPts val="1200"/>
              <a:buChar char="●"/>
            </a:pPr>
            <a:r>
              <a:rPr lang="es" sz="1200">
                <a:solidFill>
                  <a:schemeClr val="dk1"/>
                </a:solidFill>
              </a:rPr>
              <a:t>Entre las limitaciones encontradas se destacan, la sensibilidad al preprocesamiento, la presencia de términos poco informativos en algunos clusters y la dificultad para asegurar estabilidad de los resultados.</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Bertopic</a:t>
            </a:r>
            <a:endParaRPr/>
          </a:p>
        </p:txBody>
      </p:sp>
      <p:pic>
        <p:nvPicPr>
          <p:cNvPr id="89" name="Google Shape;89;p18"/>
          <p:cNvPicPr preferRelativeResize="0"/>
          <p:nvPr/>
        </p:nvPicPr>
        <p:blipFill>
          <a:blip r:embed="rId3">
            <a:alphaModFix/>
          </a:blip>
          <a:stretch>
            <a:fillRect/>
          </a:stretch>
        </p:blipFill>
        <p:spPr>
          <a:xfrm>
            <a:off x="766875" y="1343450"/>
            <a:ext cx="1003775" cy="3294075"/>
          </a:xfrm>
          <a:prstGeom prst="rect">
            <a:avLst/>
          </a:prstGeom>
          <a:noFill/>
          <a:ln>
            <a:noFill/>
          </a:ln>
        </p:spPr>
      </p:pic>
      <p:sp>
        <p:nvSpPr>
          <p:cNvPr id="90" name="Google Shape;90;p18"/>
          <p:cNvSpPr txBox="1"/>
          <p:nvPr/>
        </p:nvSpPr>
        <p:spPr>
          <a:xfrm>
            <a:off x="1880850" y="4175825"/>
            <a:ext cx="161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Embeddings</a:t>
            </a:r>
            <a:endParaRPr sz="1800">
              <a:solidFill>
                <a:schemeClr val="dk1"/>
              </a:solidFill>
            </a:endParaRPr>
          </a:p>
        </p:txBody>
      </p:sp>
      <p:sp>
        <p:nvSpPr>
          <p:cNvPr id="91" name="Google Shape;91;p18"/>
          <p:cNvSpPr txBox="1"/>
          <p:nvPr/>
        </p:nvSpPr>
        <p:spPr>
          <a:xfrm>
            <a:off x="1880850" y="3691094"/>
            <a:ext cx="278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Dimensionality Reduction</a:t>
            </a:r>
            <a:endParaRPr sz="1800">
              <a:solidFill>
                <a:schemeClr val="dk1"/>
              </a:solidFill>
            </a:endParaRPr>
          </a:p>
        </p:txBody>
      </p:sp>
      <p:sp>
        <p:nvSpPr>
          <p:cNvPr id="92" name="Google Shape;92;p18"/>
          <p:cNvSpPr txBox="1"/>
          <p:nvPr/>
        </p:nvSpPr>
        <p:spPr>
          <a:xfrm>
            <a:off x="1919200" y="3132175"/>
            <a:ext cx="125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Clustering</a:t>
            </a:r>
            <a:endParaRPr sz="1800">
              <a:solidFill>
                <a:schemeClr val="dk1"/>
              </a:solidFill>
            </a:endParaRPr>
          </a:p>
        </p:txBody>
      </p:sp>
      <p:sp>
        <p:nvSpPr>
          <p:cNvPr id="93" name="Google Shape;93;p18"/>
          <p:cNvSpPr txBox="1"/>
          <p:nvPr/>
        </p:nvSpPr>
        <p:spPr>
          <a:xfrm>
            <a:off x="1895071" y="2561450"/>
            <a:ext cx="133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Tokenizer</a:t>
            </a:r>
            <a:endParaRPr sz="1800">
              <a:solidFill>
                <a:schemeClr val="dk1"/>
              </a:solidFill>
            </a:endParaRPr>
          </a:p>
        </p:txBody>
      </p:sp>
      <p:sp>
        <p:nvSpPr>
          <p:cNvPr id="94" name="Google Shape;94;p18"/>
          <p:cNvSpPr txBox="1"/>
          <p:nvPr/>
        </p:nvSpPr>
        <p:spPr>
          <a:xfrm>
            <a:off x="1919200" y="1990725"/>
            <a:ext cx="214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Weighting Scheme</a:t>
            </a:r>
            <a:endParaRPr sz="1800">
              <a:solidFill>
                <a:schemeClr val="dk1"/>
              </a:solidFill>
            </a:endParaRPr>
          </a:p>
        </p:txBody>
      </p:sp>
      <p:sp>
        <p:nvSpPr>
          <p:cNvPr id="95" name="Google Shape;95;p18"/>
          <p:cNvSpPr txBox="1"/>
          <p:nvPr/>
        </p:nvSpPr>
        <p:spPr>
          <a:xfrm>
            <a:off x="1919214" y="1335554"/>
            <a:ext cx="251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Representation Tuning</a:t>
            </a:r>
            <a:endParaRPr sz="1800">
              <a:solidFill>
                <a:schemeClr val="dk1"/>
              </a:solidFill>
            </a:endParaRPr>
          </a:p>
        </p:txBody>
      </p:sp>
      <p:sp>
        <p:nvSpPr>
          <p:cNvPr id="96" name="Google Shape;96;p18"/>
          <p:cNvSpPr txBox="1"/>
          <p:nvPr/>
        </p:nvSpPr>
        <p:spPr>
          <a:xfrm>
            <a:off x="4959239" y="3162925"/>
            <a:ext cx="1520100" cy="4002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a:t>min_cluster_size</a:t>
            </a:r>
            <a:endParaRPr/>
          </a:p>
        </p:txBody>
      </p:sp>
      <p:sp>
        <p:nvSpPr>
          <p:cNvPr id="97" name="Google Shape;97;p18"/>
          <p:cNvSpPr txBox="1"/>
          <p:nvPr/>
        </p:nvSpPr>
        <p:spPr>
          <a:xfrm>
            <a:off x="4959250" y="3721893"/>
            <a:ext cx="1197600" cy="400200"/>
          </a:xfrm>
          <a:prstGeom prst="rect">
            <a:avLst/>
          </a:prstGeom>
          <a:solidFill>
            <a:srgbClr val="F4CCCC"/>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a:t>n_neighbors</a:t>
            </a:r>
            <a:endParaRPr/>
          </a:p>
        </p:txBody>
      </p:sp>
      <p:sp>
        <p:nvSpPr>
          <p:cNvPr id="98" name="Google Shape;98;p18"/>
          <p:cNvSpPr txBox="1"/>
          <p:nvPr/>
        </p:nvSpPr>
        <p:spPr>
          <a:xfrm>
            <a:off x="6057050" y="3721918"/>
            <a:ext cx="1389600" cy="400200"/>
          </a:xfrm>
          <a:prstGeom prst="rect">
            <a:avLst/>
          </a:prstGeom>
          <a:solidFill>
            <a:srgbClr val="F4CCCC"/>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a:t>n_components</a:t>
            </a:r>
            <a:endParaRPr/>
          </a:p>
        </p:txBody>
      </p:sp>
      <p:sp>
        <p:nvSpPr>
          <p:cNvPr id="99" name="Google Shape;99;p18"/>
          <p:cNvSpPr txBox="1"/>
          <p:nvPr/>
        </p:nvSpPr>
        <p:spPr>
          <a:xfrm>
            <a:off x="6425600" y="3162913"/>
            <a:ext cx="2234100" cy="4002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a:t>cluster_selection_method</a:t>
            </a:r>
            <a:endParaRPr/>
          </a:p>
        </p:txBody>
      </p:sp>
      <p:cxnSp>
        <p:nvCxnSpPr>
          <p:cNvPr id="100" name="Google Shape;100;p18"/>
          <p:cNvCxnSpPr>
            <a:stCxn id="92" idx="3"/>
            <a:endCxn id="96" idx="1"/>
          </p:cNvCxnSpPr>
          <p:nvPr/>
        </p:nvCxnSpPr>
        <p:spPr>
          <a:xfrm>
            <a:off x="3178300" y="3363025"/>
            <a:ext cx="1780800" cy="0"/>
          </a:xfrm>
          <a:prstGeom prst="straightConnector1">
            <a:avLst/>
          </a:prstGeom>
          <a:noFill/>
          <a:ln cap="flat" cmpd="sng" w="9525">
            <a:solidFill>
              <a:schemeClr val="dk2"/>
            </a:solidFill>
            <a:prstDash val="solid"/>
            <a:round/>
            <a:headEnd len="med" w="med" type="none"/>
            <a:tailEnd len="med" w="med" type="triangle"/>
          </a:ln>
        </p:spPr>
      </p:cxnSp>
      <p:cxnSp>
        <p:nvCxnSpPr>
          <p:cNvPr id="101" name="Google Shape;101;p18"/>
          <p:cNvCxnSpPr>
            <a:stCxn id="91" idx="3"/>
            <a:endCxn id="97" idx="1"/>
          </p:cNvCxnSpPr>
          <p:nvPr/>
        </p:nvCxnSpPr>
        <p:spPr>
          <a:xfrm>
            <a:off x="4667550" y="3921944"/>
            <a:ext cx="291600" cy="0"/>
          </a:xfrm>
          <a:prstGeom prst="straightConnector1">
            <a:avLst/>
          </a:prstGeom>
          <a:noFill/>
          <a:ln cap="flat" cmpd="sng" w="9525">
            <a:solidFill>
              <a:schemeClr val="dk2"/>
            </a:solidFill>
            <a:prstDash val="solid"/>
            <a:round/>
            <a:headEnd len="med" w="med" type="none"/>
            <a:tailEnd len="med" w="med" type="triangle"/>
          </a:ln>
        </p:spPr>
      </p:cxnSp>
      <p:sp>
        <p:nvSpPr>
          <p:cNvPr id="102" name="Google Shape;102;p18"/>
          <p:cNvSpPr txBox="1"/>
          <p:nvPr/>
        </p:nvSpPr>
        <p:spPr>
          <a:xfrm>
            <a:off x="4928547" y="1944706"/>
            <a:ext cx="2333700" cy="338700"/>
          </a:xfrm>
          <a:prstGeom prst="rect">
            <a:avLst/>
          </a:prstGeom>
          <a:solidFill>
            <a:srgbClr val="D9D9D9"/>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000"/>
              <a:t>0_enfermedad_salud_cuerpo_mental</a:t>
            </a:r>
            <a:endParaRPr sz="1000"/>
          </a:p>
        </p:txBody>
      </p:sp>
      <p:sp>
        <p:nvSpPr>
          <p:cNvPr id="103" name="Google Shape;103;p18"/>
          <p:cNvSpPr txBox="1"/>
          <p:nvPr/>
        </p:nvSpPr>
        <p:spPr>
          <a:xfrm>
            <a:off x="4928547" y="2294881"/>
            <a:ext cx="2333700" cy="338700"/>
          </a:xfrm>
          <a:prstGeom prst="rect">
            <a:avLst/>
          </a:prstGeom>
          <a:solidFill>
            <a:srgbClr val="D9D9D9"/>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000"/>
              <a:t>2_pone_historia_gracias_grande</a:t>
            </a:r>
            <a:endParaRPr sz="1000"/>
          </a:p>
        </p:txBody>
      </p:sp>
      <p:cxnSp>
        <p:nvCxnSpPr>
          <p:cNvPr id="104" name="Google Shape;104;p18"/>
          <p:cNvCxnSpPr>
            <a:stCxn id="94" idx="3"/>
          </p:cNvCxnSpPr>
          <p:nvPr/>
        </p:nvCxnSpPr>
        <p:spPr>
          <a:xfrm flipH="1" rot="10800000">
            <a:off x="4068700" y="2218575"/>
            <a:ext cx="714000" cy="3000"/>
          </a:xfrm>
          <a:prstGeom prst="straightConnector1">
            <a:avLst/>
          </a:prstGeom>
          <a:noFill/>
          <a:ln cap="flat" cmpd="sng" w="9525">
            <a:solidFill>
              <a:schemeClr val="dk2"/>
            </a:solidFill>
            <a:prstDash val="solid"/>
            <a:round/>
            <a:headEnd len="med" w="med" type="none"/>
            <a:tailEnd len="med" w="med" type="triangle"/>
          </a:ln>
        </p:spPr>
      </p:cxnSp>
      <p:pic>
        <p:nvPicPr>
          <p:cNvPr id="105" name="Google Shape;105;p18"/>
          <p:cNvPicPr preferRelativeResize="0"/>
          <p:nvPr/>
        </p:nvPicPr>
        <p:blipFill>
          <a:blip r:embed="rId4">
            <a:alphaModFix/>
          </a:blip>
          <a:stretch>
            <a:fillRect/>
          </a:stretch>
        </p:blipFill>
        <p:spPr>
          <a:xfrm>
            <a:off x="4951575" y="1303017"/>
            <a:ext cx="3464588" cy="526775"/>
          </a:xfrm>
          <a:prstGeom prst="rect">
            <a:avLst/>
          </a:prstGeom>
          <a:noFill/>
          <a:ln>
            <a:noFill/>
          </a:ln>
        </p:spPr>
      </p:pic>
      <p:cxnSp>
        <p:nvCxnSpPr>
          <p:cNvPr id="106" name="Google Shape;106;p18"/>
          <p:cNvCxnSpPr>
            <a:stCxn id="95" idx="3"/>
            <a:endCxn id="105" idx="1"/>
          </p:cNvCxnSpPr>
          <p:nvPr/>
        </p:nvCxnSpPr>
        <p:spPr>
          <a:xfrm>
            <a:off x="4437114" y="1566404"/>
            <a:ext cx="5145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Visualizaci</a:t>
            </a:r>
            <a:r>
              <a:rPr lang="es"/>
              <a:t>ón de los tópicos</a:t>
            </a:r>
            <a:endParaRPr/>
          </a:p>
        </p:txBody>
      </p:sp>
      <p:pic>
        <p:nvPicPr>
          <p:cNvPr id="112" name="Google Shape;112;p19" title="newplot (11).png"/>
          <p:cNvPicPr preferRelativeResize="0"/>
          <p:nvPr/>
        </p:nvPicPr>
        <p:blipFill>
          <a:blip r:embed="rId3">
            <a:alphaModFix/>
          </a:blip>
          <a:stretch>
            <a:fillRect/>
          </a:stretch>
        </p:blipFill>
        <p:spPr>
          <a:xfrm>
            <a:off x="1454726" y="1017725"/>
            <a:ext cx="6234555" cy="3896597"/>
          </a:xfrm>
          <a:prstGeom prst="rect">
            <a:avLst/>
          </a:prstGeom>
          <a:noFill/>
          <a:ln>
            <a:noFill/>
          </a:ln>
        </p:spPr>
      </p:pic>
      <p:sp>
        <p:nvSpPr>
          <p:cNvPr id="113" name="Google Shape;113;p19"/>
          <p:cNvSpPr/>
          <p:nvPr/>
        </p:nvSpPr>
        <p:spPr>
          <a:xfrm>
            <a:off x="1664902" y="1111382"/>
            <a:ext cx="878100" cy="531600"/>
          </a:xfrm>
          <a:prstGeom prst="roundRect">
            <a:avLst>
              <a:gd fmla="val 16667" name="adj"/>
            </a:avLst>
          </a:prstGeom>
          <a:solidFill>
            <a:schemeClr val="lt1"/>
          </a:solidFill>
          <a:ln cap="flat" cmpd="sng" w="7675">
            <a:solidFill>
              <a:schemeClr val="dk2"/>
            </a:solidFill>
            <a:prstDash val="solid"/>
            <a:round/>
            <a:headEnd len="sm" w="sm" type="none"/>
            <a:tailEnd len="sm" w="sm" type="none"/>
          </a:ln>
        </p:spPr>
        <p:txBody>
          <a:bodyPr anchorCtr="0" anchor="ctr" bIns="73650" lIns="73650" spcFirstLastPara="1" rIns="73650" wrap="square" tIns="73650">
            <a:noAutofit/>
          </a:bodyPr>
          <a:lstStyle/>
          <a:p>
            <a:pPr indent="0" lvl="0" marL="0" rtl="0" algn="ctr">
              <a:spcBef>
                <a:spcPts val="0"/>
              </a:spcBef>
              <a:spcAft>
                <a:spcPts val="0"/>
              </a:spcAft>
              <a:buNone/>
            </a:pPr>
            <a:r>
              <a:rPr lang="es" sz="1127"/>
              <a:t>tópico -1: 2976</a:t>
            </a:r>
            <a:endParaRPr sz="1127"/>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2966400" cy="101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Frecuencia de los t</a:t>
            </a:r>
            <a:r>
              <a:rPr lang="es"/>
              <a:t>ópicos</a:t>
            </a:r>
            <a:endParaRPr/>
          </a:p>
        </p:txBody>
      </p:sp>
      <p:pic>
        <p:nvPicPr>
          <p:cNvPr id="119" name="Google Shape;119;p20"/>
          <p:cNvPicPr preferRelativeResize="0"/>
          <p:nvPr/>
        </p:nvPicPr>
        <p:blipFill>
          <a:blip r:embed="rId3">
            <a:alphaModFix/>
          </a:blip>
          <a:stretch>
            <a:fillRect/>
          </a:stretch>
        </p:blipFill>
        <p:spPr>
          <a:xfrm>
            <a:off x="3178225" y="60625"/>
            <a:ext cx="5746199" cy="50222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a:t>
            </a:r>
            <a:r>
              <a:rPr lang="es"/>
              <a:t>ópico 1: La obesidad como enfermedad</a:t>
            </a:r>
            <a:endParaRPr/>
          </a:p>
        </p:txBody>
      </p:sp>
      <p:sp>
        <p:nvSpPr>
          <p:cNvPr id="125" name="Google Shape;125;p21"/>
          <p:cNvSpPr txBox="1"/>
          <p:nvPr/>
        </p:nvSpPr>
        <p:spPr>
          <a:xfrm>
            <a:off x="491316" y="1507088"/>
            <a:ext cx="4982400" cy="24012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2"/>
                </a:solidFill>
              </a:rPr>
              <a:t>Este tópico agrupa comentarios que debaten sobre la obesidad como una condición médica, alejándose del insulto y enfocándose en sus implicaciones para la salud. La conversación principal </a:t>
            </a:r>
            <a:r>
              <a:rPr lang="es" sz="1600">
                <a:solidFill>
                  <a:schemeClr val="dk2"/>
                </a:solidFill>
              </a:rPr>
              <a:t>crítica</a:t>
            </a:r>
            <a:r>
              <a:rPr lang="es" sz="1600">
                <a:solidFill>
                  <a:schemeClr val="dk2"/>
                </a:solidFill>
              </a:rPr>
              <a:t> la "romantización" del sobrepeso y enfatiza sus riesgos, como se lee en el fragmento: "La obesidad es una enfermedad que compromete un </a:t>
            </a:r>
            <a:r>
              <a:rPr lang="es" sz="1600">
                <a:solidFill>
                  <a:schemeClr val="dk2"/>
                </a:solidFill>
              </a:rPr>
              <a:t>montón</a:t>
            </a:r>
            <a:r>
              <a:rPr lang="es" sz="1600">
                <a:solidFill>
                  <a:schemeClr val="dk2"/>
                </a:solidFill>
              </a:rPr>
              <a:t> de aspectos de la salud. Hasta puede ocasionar la muerte".</a:t>
            </a:r>
            <a:endParaRPr sz="1600">
              <a:solidFill>
                <a:schemeClr val="dk2"/>
              </a:solidFill>
            </a:endParaRPr>
          </a:p>
        </p:txBody>
      </p:sp>
      <p:pic>
        <p:nvPicPr>
          <p:cNvPr id="126" name="Google Shape;126;p21"/>
          <p:cNvPicPr preferRelativeResize="0"/>
          <p:nvPr/>
        </p:nvPicPr>
        <p:blipFill>
          <a:blip r:embed="rId3">
            <a:alphaModFix/>
          </a:blip>
          <a:stretch>
            <a:fillRect/>
          </a:stretch>
        </p:blipFill>
        <p:spPr>
          <a:xfrm>
            <a:off x="5819090" y="1278893"/>
            <a:ext cx="2857600" cy="2857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Tópico 1: La obesidad como enfermedad</a:t>
            </a:r>
            <a:endParaRPr/>
          </a:p>
        </p:txBody>
      </p:sp>
      <p:sp>
        <p:nvSpPr>
          <p:cNvPr id="132" name="Google Shape;132;p22"/>
          <p:cNvSpPr txBox="1"/>
          <p:nvPr/>
        </p:nvSpPr>
        <p:spPr>
          <a:xfrm>
            <a:off x="898227" y="4109575"/>
            <a:ext cx="4353900" cy="6927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Algo que es muy inpopular es decir abiertamente que la obesidad es una enfermedad tal como lo es el cancer y el sida. Obviamente la obesidad grave.</a:t>
            </a:r>
            <a:endParaRPr sz="1100"/>
          </a:p>
        </p:txBody>
      </p:sp>
      <p:sp>
        <p:nvSpPr>
          <p:cNvPr id="133" name="Google Shape;133;p22"/>
          <p:cNvSpPr txBox="1"/>
          <p:nvPr/>
        </p:nvSpPr>
        <p:spPr>
          <a:xfrm>
            <a:off x="5832300" y="1210769"/>
            <a:ext cx="3000000" cy="12006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Si bien estoy en "contra" de la obesidad por una cuestión de salud más que nada, porque te rompe las rodillas y a la larga no es sano, también entiendo las causas que lo originan y que no siempre uno puede controlarlo tan fácilmente. Pero no es el único problema.</a:t>
            </a:r>
            <a:endParaRPr sz="1100"/>
          </a:p>
        </p:txBody>
      </p:sp>
      <p:sp>
        <p:nvSpPr>
          <p:cNvPr id="134" name="Google Shape;134;p22"/>
          <p:cNvSpPr txBox="1"/>
          <p:nvPr/>
        </p:nvSpPr>
        <p:spPr>
          <a:xfrm>
            <a:off x="6013824" y="4308875"/>
            <a:ext cx="2453700" cy="6927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La obesidad es perjudicial para la salud física y mental. Corta. El resto es gilada.</a:t>
            </a:r>
            <a:endParaRPr sz="1100"/>
          </a:p>
        </p:txBody>
      </p:sp>
      <p:sp>
        <p:nvSpPr>
          <p:cNvPr id="135" name="Google Shape;135;p22"/>
          <p:cNvSpPr txBox="1"/>
          <p:nvPr/>
        </p:nvSpPr>
        <p:spPr>
          <a:xfrm>
            <a:off x="5832296" y="3163182"/>
            <a:ext cx="3000000" cy="10314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La obesidad debe ser considerada una enfermedad y grave.También los pie planos.Los argentos no sabemos comer y no cuidamos la deformación que produce el mal caminar.</a:t>
            </a:r>
            <a:endParaRPr sz="1100"/>
          </a:p>
        </p:txBody>
      </p:sp>
      <p:sp>
        <p:nvSpPr>
          <p:cNvPr id="136" name="Google Shape;136;p22"/>
          <p:cNvSpPr txBox="1"/>
          <p:nvPr/>
        </p:nvSpPr>
        <p:spPr>
          <a:xfrm>
            <a:off x="5832300" y="2525684"/>
            <a:ext cx="3000000" cy="5232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Obesa descerebrada el problema es el COVID nuevamente no el dengue</a:t>
            </a:r>
            <a:endParaRPr sz="1100"/>
          </a:p>
        </p:txBody>
      </p:sp>
      <p:pic>
        <p:nvPicPr>
          <p:cNvPr id="137" name="Google Shape;137;p22"/>
          <p:cNvPicPr preferRelativeResize="0"/>
          <p:nvPr/>
        </p:nvPicPr>
        <p:blipFill>
          <a:blip r:embed="rId3">
            <a:alphaModFix/>
          </a:blip>
          <a:stretch>
            <a:fillRect/>
          </a:stretch>
        </p:blipFill>
        <p:spPr>
          <a:xfrm>
            <a:off x="760014" y="1218060"/>
            <a:ext cx="4322076" cy="25566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Tópico 8: gatos y obesidad</a:t>
            </a:r>
            <a:endParaRPr/>
          </a:p>
        </p:txBody>
      </p:sp>
      <p:sp>
        <p:nvSpPr>
          <p:cNvPr id="143" name="Google Shape;143;p23"/>
          <p:cNvSpPr txBox="1"/>
          <p:nvPr/>
        </p:nvSpPr>
        <p:spPr>
          <a:xfrm>
            <a:off x="621850" y="1458325"/>
            <a:ext cx="4844100" cy="26475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2"/>
                </a:solidFill>
              </a:rPr>
              <a:t>Este tópico reúne una colección de comentarios, en su mayoría afectuosos y humorísticos, sobre gatos domésticos con sobrepeso. Los usuarios comparten anécdotas y observaciones sobre sus mascotas, describiendo su apariencia o comportamiento de manera personal y a menudo identificándose con ellos. La frase "mi gata esta r obesa jajajajaj COME Y DUERME nomas, m representa" es un ejemplo perfecto que resume el tono general del tópico.</a:t>
            </a:r>
            <a:endParaRPr sz="1600">
              <a:solidFill>
                <a:schemeClr val="dk2"/>
              </a:solidFill>
            </a:endParaRPr>
          </a:p>
        </p:txBody>
      </p:sp>
      <p:pic>
        <p:nvPicPr>
          <p:cNvPr id="144" name="Google Shape;144;p23"/>
          <p:cNvPicPr preferRelativeResize="0"/>
          <p:nvPr/>
        </p:nvPicPr>
        <p:blipFill>
          <a:blip r:embed="rId3">
            <a:alphaModFix/>
          </a:blip>
          <a:stretch>
            <a:fillRect/>
          </a:stretch>
        </p:blipFill>
        <p:spPr>
          <a:xfrm>
            <a:off x="5792162" y="1322525"/>
            <a:ext cx="2783300" cy="2783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Tópico 8: gatos y obesidad</a:t>
            </a:r>
            <a:endParaRPr/>
          </a:p>
        </p:txBody>
      </p:sp>
      <p:pic>
        <p:nvPicPr>
          <p:cNvPr id="150" name="Google Shape;150;p24"/>
          <p:cNvPicPr preferRelativeResize="0"/>
          <p:nvPr/>
        </p:nvPicPr>
        <p:blipFill>
          <a:blip r:embed="rId3">
            <a:alphaModFix/>
          </a:blip>
          <a:stretch>
            <a:fillRect/>
          </a:stretch>
        </p:blipFill>
        <p:spPr>
          <a:xfrm>
            <a:off x="618125" y="1182228"/>
            <a:ext cx="4476679" cy="2647950"/>
          </a:xfrm>
          <a:prstGeom prst="rect">
            <a:avLst/>
          </a:prstGeom>
          <a:noFill/>
          <a:ln>
            <a:noFill/>
          </a:ln>
        </p:spPr>
      </p:pic>
      <p:sp>
        <p:nvSpPr>
          <p:cNvPr id="151" name="Google Shape;151;p24"/>
          <p:cNvSpPr txBox="1"/>
          <p:nvPr/>
        </p:nvSpPr>
        <p:spPr>
          <a:xfrm>
            <a:off x="5897083" y="4328450"/>
            <a:ext cx="2347800" cy="523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quiero un gato obeso, los amo tanto</a:t>
            </a:r>
            <a:endParaRPr sz="1100"/>
          </a:p>
        </p:txBody>
      </p:sp>
      <p:sp>
        <p:nvSpPr>
          <p:cNvPr id="152" name="Google Shape;152;p24"/>
          <p:cNvSpPr txBox="1"/>
          <p:nvPr/>
        </p:nvSpPr>
        <p:spPr>
          <a:xfrm>
            <a:off x="5713175" y="3505260"/>
            <a:ext cx="3000000" cy="6927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A veces me gustaría ser Billie: un gato obeso que duerme felizmente en sus sábanas de princesa todo el día</a:t>
            </a:r>
            <a:endParaRPr sz="1100"/>
          </a:p>
        </p:txBody>
      </p:sp>
      <p:sp>
        <p:nvSpPr>
          <p:cNvPr id="153" name="Google Shape;153;p24"/>
          <p:cNvSpPr txBox="1"/>
          <p:nvPr/>
        </p:nvSpPr>
        <p:spPr>
          <a:xfrm>
            <a:off x="5713175" y="866010"/>
            <a:ext cx="3000000" cy="523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Mí novio se hace el malo y me manda videos de gatitos obesos</a:t>
            </a:r>
            <a:endParaRPr sz="1100"/>
          </a:p>
        </p:txBody>
      </p:sp>
      <p:sp>
        <p:nvSpPr>
          <p:cNvPr id="154" name="Google Shape;154;p24"/>
          <p:cNvSpPr txBox="1"/>
          <p:nvPr/>
        </p:nvSpPr>
        <p:spPr>
          <a:xfrm>
            <a:off x="5749975" y="1620935"/>
            <a:ext cx="3000000" cy="523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Solo somos yo y mí gata obesa contra en mundo</a:t>
            </a:r>
            <a:endParaRPr sz="1100"/>
          </a:p>
        </p:txBody>
      </p:sp>
      <p:sp>
        <p:nvSpPr>
          <p:cNvPr id="155" name="Google Shape;155;p24"/>
          <p:cNvSpPr txBox="1"/>
          <p:nvPr/>
        </p:nvSpPr>
        <p:spPr>
          <a:xfrm>
            <a:off x="1946875" y="4197950"/>
            <a:ext cx="3000000" cy="523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el único ser masculino que amo es a mí gato con obesidad</a:t>
            </a:r>
            <a:endParaRPr sz="1100"/>
          </a:p>
        </p:txBody>
      </p:sp>
      <p:sp>
        <p:nvSpPr>
          <p:cNvPr id="156" name="Google Shape;156;p24"/>
          <p:cNvSpPr txBox="1"/>
          <p:nvPr/>
        </p:nvSpPr>
        <p:spPr>
          <a:xfrm>
            <a:off x="5713163" y="2375873"/>
            <a:ext cx="3000000" cy="8619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Bajo para ir al baño tardo más de 5min y baja mi gata flasheando que le voy a dar comida a la madrugada cuando está obesa jajaj sisi</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320"/>
              <a:t>Tópico 13: </a:t>
            </a:r>
            <a:r>
              <a:rPr lang="es" sz="2320"/>
              <a:t>Debates de género sobre apariencia y sobrepeso</a:t>
            </a:r>
            <a:endParaRPr sz="2320"/>
          </a:p>
        </p:txBody>
      </p:sp>
      <p:sp>
        <p:nvSpPr>
          <p:cNvPr id="162" name="Google Shape;162;p25"/>
          <p:cNvSpPr txBox="1"/>
          <p:nvPr/>
        </p:nvSpPr>
        <p:spPr>
          <a:xfrm>
            <a:off x="560450" y="1686225"/>
            <a:ext cx="4844100" cy="21549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2"/>
                </a:solidFill>
              </a:rPr>
              <a:t>Este tópico agrupa comentarios que estigmatizan a los hombres y mayoritariamente a las mujeres por la apariencia física, utilizando la palabra obesa, y otras derivadas de la misma, de modo despectivo o como insulto. </a:t>
            </a:r>
            <a:endParaRPr sz="1600">
              <a:solidFill>
                <a:schemeClr val="dk2"/>
              </a:solidFill>
            </a:endParaRPr>
          </a:p>
          <a:p>
            <a:pPr indent="0" lvl="0" marL="0" rtl="0" algn="l">
              <a:spcBef>
                <a:spcPts val="0"/>
              </a:spcBef>
              <a:spcAft>
                <a:spcPts val="0"/>
              </a:spcAft>
              <a:buNone/>
            </a:pPr>
            <a:r>
              <a:rPr lang="es" sz="1600">
                <a:solidFill>
                  <a:schemeClr val="dk2"/>
                </a:solidFill>
              </a:rPr>
              <a:t>Este tópico da </a:t>
            </a:r>
            <a:r>
              <a:rPr lang="es" sz="1600">
                <a:solidFill>
                  <a:schemeClr val="dk2"/>
                </a:solidFill>
              </a:rPr>
              <a:t>indicio</a:t>
            </a:r>
            <a:r>
              <a:rPr lang="es" sz="1600">
                <a:solidFill>
                  <a:schemeClr val="dk2"/>
                </a:solidFill>
              </a:rPr>
              <a:t> a que sería interesante investigar si hay juicios o estigmas más </a:t>
            </a:r>
            <a:r>
              <a:rPr lang="es" sz="1600">
                <a:solidFill>
                  <a:schemeClr val="dk2"/>
                </a:solidFill>
              </a:rPr>
              <a:t>pronunciados</a:t>
            </a:r>
            <a:r>
              <a:rPr lang="es" sz="1600">
                <a:solidFill>
                  <a:schemeClr val="dk2"/>
                </a:solidFill>
              </a:rPr>
              <a:t> en un género en particular.</a:t>
            </a:r>
            <a:endParaRPr sz="1600">
              <a:solidFill>
                <a:schemeClr val="dk2"/>
              </a:solidFill>
            </a:endParaRPr>
          </a:p>
        </p:txBody>
      </p:sp>
      <p:pic>
        <p:nvPicPr>
          <p:cNvPr id="163" name="Google Shape;163;p25"/>
          <p:cNvPicPr preferRelativeResize="0"/>
          <p:nvPr/>
        </p:nvPicPr>
        <p:blipFill>
          <a:blip r:embed="rId3">
            <a:alphaModFix/>
          </a:blip>
          <a:stretch>
            <a:fillRect/>
          </a:stretch>
        </p:blipFill>
        <p:spPr>
          <a:xfrm>
            <a:off x="5819072" y="1495203"/>
            <a:ext cx="2750775" cy="2750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320"/>
              <a:t>Tópico 13: Debates de género sobre apariencia y sobrepeso</a:t>
            </a:r>
            <a:endParaRPr sz="2320"/>
          </a:p>
        </p:txBody>
      </p:sp>
      <p:pic>
        <p:nvPicPr>
          <p:cNvPr id="169" name="Google Shape;169;p26"/>
          <p:cNvPicPr preferRelativeResize="0"/>
          <p:nvPr/>
        </p:nvPicPr>
        <p:blipFill>
          <a:blip r:embed="rId3">
            <a:alphaModFix/>
          </a:blip>
          <a:stretch>
            <a:fillRect/>
          </a:stretch>
        </p:blipFill>
        <p:spPr>
          <a:xfrm>
            <a:off x="660225" y="1098400"/>
            <a:ext cx="4754086" cy="2812099"/>
          </a:xfrm>
          <a:prstGeom prst="rect">
            <a:avLst/>
          </a:prstGeom>
          <a:noFill/>
          <a:ln>
            <a:noFill/>
          </a:ln>
        </p:spPr>
      </p:pic>
      <p:sp>
        <p:nvSpPr>
          <p:cNvPr id="170" name="Google Shape;170;p26"/>
          <p:cNvSpPr txBox="1"/>
          <p:nvPr/>
        </p:nvSpPr>
        <p:spPr>
          <a:xfrm>
            <a:off x="5875600" y="980975"/>
            <a:ext cx="3000000" cy="6927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Estéticamente mal, ser sexy y ser obesa no van de la mano a menos que sea "por negocio"</a:t>
            </a:r>
            <a:endParaRPr sz="1100"/>
          </a:p>
        </p:txBody>
      </p:sp>
      <p:sp>
        <p:nvSpPr>
          <p:cNvPr id="171" name="Google Shape;171;p26"/>
          <p:cNvSpPr txBox="1"/>
          <p:nvPr/>
        </p:nvSpPr>
        <p:spPr>
          <a:xfrm>
            <a:off x="5832288" y="3860375"/>
            <a:ext cx="3000000" cy="8619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Un sacerdote dijo en Sao Paulo que las mujeres obesas no vana entrar al cielo. Bueno, no se imaginen el resto que hay video</a:t>
            </a:r>
            <a:endParaRPr sz="1100"/>
          </a:p>
        </p:txBody>
      </p:sp>
      <p:sp>
        <p:nvSpPr>
          <p:cNvPr id="172" name="Google Shape;172;p26"/>
          <p:cNvSpPr txBox="1"/>
          <p:nvPr/>
        </p:nvSpPr>
        <p:spPr>
          <a:xfrm>
            <a:off x="5832300" y="2956963"/>
            <a:ext cx="3000000" cy="6927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Yo creo que ufbal tiene obesidad, se hace la viva pero cuando la tocan a ella salta con el feminismo barato</a:t>
            </a:r>
            <a:endParaRPr sz="1100"/>
          </a:p>
        </p:txBody>
      </p:sp>
      <p:sp>
        <p:nvSpPr>
          <p:cNvPr id="173" name="Google Shape;173;p26"/>
          <p:cNvSpPr txBox="1"/>
          <p:nvPr/>
        </p:nvSpPr>
        <p:spPr>
          <a:xfrm>
            <a:off x="3574650" y="4199050"/>
            <a:ext cx="1994700" cy="5232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virgen, obeso y pelotudo, pero nunca cuerno</a:t>
            </a:r>
            <a:endParaRPr sz="1100"/>
          </a:p>
        </p:txBody>
      </p:sp>
      <p:sp>
        <p:nvSpPr>
          <p:cNvPr id="174" name="Google Shape;174;p26"/>
          <p:cNvSpPr txBox="1"/>
          <p:nvPr/>
        </p:nvSpPr>
        <p:spPr>
          <a:xfrm>
            <a:off x="416950" y="4245375"/>
            <a:ext cx="3000000" cy="5232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que sera que morfan esas feminazis para estar tan obesas¿</a:t>
            </a:r>
            <a:endParaRPr sz="1100"/>
          </a:p>
        </p:txBody>
      </p:sp>
      <p:sp>
        <p:nvSpPr>
          <p:cNvPr id="175" name="Google Shape;175;p26"/>
          <p:cNvSpPr txBox="1"/>
          <p:nvPr/>
        </p:nvSpPr>
        <p:spPr>
          <a:xfrm>
            <a:off x="5918375" y="1884363"/>
            <a:ext cx="3000000" cy="861900"/>
          </a:xfrm>
          <a:prstGeom prst="rect">
            <a:avLst/>
          </a:prstGeom>
          <a:solidFill>
            <a:srgbClr val="D9EAD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100"/>
              <a:t>No creo que te quieran cojer  Con obesidad, severos problemas mentales a la vista y siendo feminista  no creo que nadie te la quiera poner</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Conclusiones</a:t>
            </a:r>
            <a:endParaRPr/>
          </a:p>
        </p:txBody>
      </p:sp>
      <p:sp>
        <p:nvSpPr>
          <p:cNvPr id="181" name="Google Shape;181;p27"/>
          <p:cNvSpPr txBox="1"/>
          <p:nvPr>
            <p:ph idx="1" type="body"/>
          </p:nvPr>
        </p:nvSpPr>
        <p:spPr>
          <a:xfrm>
            <a:off x="311700" y="1152475"/>
            <a:ext cx="8520600" cy="3707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s" sz="1200"/>
              <a:t>Limitación principal</a:t>
            </a:r>
            <a:r>
              <a:rPr lang="es" sz="1200"/>
              <a:t>: El método actual permite identificar núcleos temáticos, pero las clasificaciones generadas no son lo suficientemente robustas para ser usadas directamente en tareas posteriores, como el entrenamiento de un modelo, sin una revisión manual previa.</a:t>
            </a:r>
            <a:endParaRPr sz="1200"/>
          </a:p>
          <a:p>
            <a:pPr indent="-304800" lvl="0" marL="457200" rtl="0" algn="l">
              <a:spcBef>
                <a:spcPts val="1000"/>
              </a:spcBef>
              <a:spcAft>
                <a:spcPts val="0"/>
              </a:spcAft>
              <a:buSzPts val="1200"/>
              <a:buChar char="●"/>
            </a:pPr>
            <a:r>
              <a:rPr b="1" lang="es" sz="1200"/>
              <a:t>Amplitud de los hallazgos</a:t>
            </a:r>
            <a:r>
              <a:rPr lang="es" sz="1200"/>
              <a:t>: Se encontraron tópicos esperados, como la relación de la obesidad con la enfermedad y la comida, pero también emergieron temas inesperados que la vinculan con la autopercepción, la política, la nacionalidad y el fútbol.</a:t>
            </a:r>
            <a:endParaRPr sz="1200"/>
          </a:p>
          <a:p>
            <a:pPr indent="-304800" lvl="0" marL="457200" rtl="0" algn="l">
              <a:spcBef>
                <a:spcPts val="1000"/>
              </a:spcBef>
              <a:spcAft>
                <a:spcPts val="0"/>
              </a:spcAft>
              <a:buSzPts val="1200"/>
              <a:buChar char="●"/>
            </a:pPr>
            <a:r>
              <a:rPr b="1" lang="es" sz="1200"/>
              <a:t>Sentimiento y tono del discurso</a:t>
            </a:r>
            <a:r>
              <a:rPr lang="es" sz="1200"/>
              <a:t>: Predomina una carga semántica negativa y de descalificación en el discurso sobre la obesidad. La única excepción notable es cuando el término se aplica a animales (ej. gatos), donde adquiere una connotación afectuosa.</a:t>
            </a:r>
            <a:endParaRPr sz="1200"/>
          </a:p>
          <a:p>
            <a:pPr indent="-304800" lvl="0" marL="457200" rtl="0" algn="l">
              <a:spcBef>
                <a:spcPts val="1000"/>
              </a:spcBef>
              <a:spcAft>
                <a:spcPts val="0"/>
              </a:spcAft>
              <a:buSzPts val="1200"/>
              <a:buChar char="●"/>
            </a:pPr>
            <a:r>
              <a:rPr b="1" lang="es" sz="1200"/>
              <a:t>Identificación de sesgo de género</a:t>
            </a:r>
            <a:r>
              <a:rPr lang="es" sz="1200"/>
              <a:t>: Se observó un claro sesgo de género en la conversación, donde las mujeres son, en su mayo</a:t>
            </a:r>
            <a:r>
              <a:rPr lang="es" sz="1200"/>
              <a:t>r</a:t>
            </a:r>
            <a:r>
              <a:rPr lang="es" sz="1200"/>
              <a:t>ía, el principal objeto de crítica y juicio.</a:t>
            </a:r>
            <a:endParaRPr sz="1200"/>
          </a:p>
          <a:p>
            <a:pPr indent="-304800" lvl="0" marL="457200" rtl="0" algn="l">
              <a:spcBef>
                <a:spcPts val="1000"/>
              </a:spcBef>
              <a:spcAft>
                <a:spcPts val="1000"/>
              </a:spcAft>
              <a:buSzPts val="1200"/>
              <a:buChar char="●"/>
            </a:pPr>
            <a:r>
              <a:rPr b="1" lang="es" sz="1200"/>
              <a:t>Desafío técnico y futuro trabajo</a:t>
            </a:r>
            <a:r>
              <a:rPr lang="es" sz="1200"/>
              <a:t>: Una línea de investigación futura que nos resulta prometedora es explorar cómo incorporar el contexto conversacional para enriquecer la representación de los datos y lograr agrupamientos más consistentes.</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