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71" r:id="rId12"/>
    <p:sldId id="264" r:id="rId13"/>
    <p:sldId id="272" r:id="rId14"/>
    <p:sldId id="265" r:id="rId15"/>
    <p:sldId id="273" r:id="rId16"/>
    <p:sldId id="266" r:id="rId17"/>
    <p:sldId id="274" r:id="rId18"/>
    <p:sldId id="267" r:id="rId19"/>
    <p:sldId id="275" r:id="rId20"/>
    <p:sldId id="268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GCDDWSwIkQVfe22YVV+UfBHhDf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CTOR EZEQUIEL MUÑO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8-09T19:37:53.646" idx="1">
    <p:pos x="6000" y="0"/>
    <p:text>Me falta ver cómo escribir lo que va a ir acá, pero voy a poner 3 conclusiones nomás, el resto lo voy a comentar.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l-r3XT4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3ff8cdf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3ff8cdf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3fd853d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63fd853d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3fd853dd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63fd853dd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3fd853dd8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63fd853dd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3fd853dd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63fd853dd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3fd853dd8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63fd853dd8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3fd853dd8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63fd853dd8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3fd853dd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63fd853dd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universaldependencies.org/es/po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meta-llama/Llama-3.2-3B-Instruct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huggingface.co/pysentimiento/robertuito-sentiment-analysi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AB7A30-F1EC-686E-FA6D-76D7A44D2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" y="-202019"/>
            <a:ext cx="12181533" cy="70600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>
            <a:spLocks noGrp="1"/>
          </p:cNvSpPr>
          <p:nvPr>
            <p:ph type="body" idx="1"/>
          </p:nvPr>
        </p:nvSpPr>
        <p:spPr>
          <a:xfrm>
            <a:off x="1337928" y="719842"/>
            <a:ext cx="10515600" cy="475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s-AR" sz="2600">
                <a:solidFill>
                  <a:schemeClr val="lt1"/>
                </a:solidFill>
              </a:rPr>
              <a:t>Durante el año 2024, se recolectaron 11.111 tuits publicados sin pausa usando palabras claves cuidadosamente seleccionadas.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br>
              <a:rPr lang="es-AR" sz="2600">
                <a:solidFill>
                  <a:schemeClr val="lt1"/>
                </a:solidFill>
              </a:rPr>
            </a:br>
            <a:r>
              <a:rPr lang="es-AR" sz="2600">
                <a:solidFill>
                  <a:schemeClr val="lt1"/>
                </a:solidFill>
              </a:rPr>
              <a:t>La base de datos resultante de estos tweets nos permitirá responder: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AR"/>
              <a:t>💬</a:t>
            </a:r>
            <a:r>
              <a:rPr lang="es-AR">
                <a:solidFill>
                  <a:schemeClr val="lt1"/>
                </a:solidFill>
              </a:rPr>
              <a:t>¿De qué se habla realmente cuando se menciona la obesidad?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AR"/>
              <a:t>🕰️</a:t>
            </a:r>
            <a:r>
              <a:rPr lang="es-AR">
                <a:solidFill>
                  <a:schemeClr val="lt1"/>
                </a:solidFill>
              </a:rPr>
              <a:t>¿Cómo cambia la conversación según el momento del año?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AR"/>
              <a:t>🎭</a:t>
            </a:r>
            <a:r>
              <a:rPr lang="es-AR">
                <a:solidFill>
                  <a:schemeClr val="lt1"/>
                </a:solidFill>
              </a:rPr>
              <a:t>¿Qué tono predomina cuando se tuitea: positivo, negativo o neutro?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9AD5"/>
              </a:buClr>
              <a:buSzPts val="2200"/>
              <a:buNone/>
            </a:pPr>
            <a:r>
              <a:rPr lang="es-AR" sz="2200">
                <a:solidFill>
                  <a:srgbClr val="409AD5"/>
                </a:solidFill>
              </a:rPr>
              <a:t>#DataBase #OrigenDeDatos #Obesidad #Twitter </a:t>
            </a:r>
            <a:r>
              <a:rPr lang="es-AR" sz="2400">
                <a:solidFill>
                  <a:srgbClr val="409AD5"/>
                </a:solidFill>
              </a:rPr>
              <a:t>#Scrapping</a:t>
            </a:r>
            <a:endParaRPr sz="2200">
              <a:solidFill>
                <a:srgbClr val="409AD5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1293518" y="71106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/>
              <a:t>📊</a:t>
            </a:r>
            <a:r>
              <a:rPr lang="es-AR">
                <a:solidFill>
                  <a:schemeClr val="lt1"/>
                </a:solidFill>
              </a:rPr>
              <a:t>Tamaño del data set: 11.111 tweets · 13 variables</a:t>
            </a:r>
            <a:endParaRPr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/>
              <a:t>🔍</a:t>
            </a:r>
            <a:r>
              <a:rPr lang="es-AR">
                <a:solidFill>
                  <a:schemeClr val="lt1"/>
                </a:solidFill>
              </a:rPr>
              <a:t>Origen de los  datos: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AR">
                <a:solidFill>
                  <a:schemeClr val="lt1"/>
                </a:solidFill>
              </a:rPr>
              <a:t>Recolección de datos vía scraping con twscrape (librería de Python).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AR">
                <a:solidFill>
                  <a:schemeClr val="lt1"/>
                </a:solidFill>
              </a:rPr>
              <a:t>Período: Ene 2024 – Dic 2024, sin interrupción.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AR">
                <a:solidFill>
                  <a:schemeClr val="lt1"/>
                </a:solidFill>
              </a:rPr>
              <a:t>Palabras clave: 21 términos relacionados con “obesidad”.  </a:t>
            </a:r>
            <a:endParaRPr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AR">
                <a:solidFill>
                  <a:schemeClr val="lt1"/>
                </a:solidFill>
              </a:rPr>
              <a:t>Base almacenada en MongoDB (CCAD – UNC, MinCyT).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9AD5"/>
              </a:buClr>
              <a:buSzPct val="100000"/>
              <a:buNone/>
            </a:pPr>
            <a:r>
              <a:rPr lang="es-AR">
                <a:solidFill>
                  <a:srgbClr val="409AD5"/>
                </a:solidFill>
              </a:rPr>
              <a:t>#DataBase #OrigenDatos #Twitter #Scraping #DataSet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8857" y="0"/>
            <a:ext cx="1230085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0336" y="1074981"/>
            <a:ext cx="10363200" cy="5071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48559" y="769494"/>
            <a:ext cx="10515600" cy="2827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lang="es-AR" sz="2600">
                <a:solidFill>
                  <a:schemeClr val="lt1"/>
                </a:solidFill>
              </a:rPr>
              <a:t>Uso de la librería Lingua: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/>
              <a:t>📢 </a:t>
            </a:r>
            <a:r>
              <a:rPr lang="es-AR" sz="2400">
                <a:solidFill>
                  <a:schemeClr val="lt1"/>
                </a:solidFill>
              </a:rPr>
              <a:t>Precisa incluso con textos cortos y ruidosos como los tweets.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/>
              <a:t>❌ </a:t>
            </a:r>
            <a:r>
              <a:rPr lang="es-AR" sz="2400">
                <a:solidFill>
                  <a:schemeClr val="lt1"/>
                </a:solidFill>
              </a:rPr>
              <a:t>Se eliminó el marcador link_url para mejorar la detección.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/>
              <a:t>🎯</a:t>
            </a:r>
            <a:r>
              <a:rPr lang="es-AR" sz="2400">
                <a:solidFill>
                  <a:schemeClr val="lt1"/>
                </a:solidFill>
              </a:rPr>
              <a:t>Se ajustó minimum_relative_distance = 0.05 para aumentar la sensibilidad sin perder precisión.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9AD5"/>
              </a:buClr>
              <a:buSzPts val="2400"/>
              <a:buNone/>
            </a:pPr>
            <a:r>
              <a:rPr lang="es-AR" sz="2400">
                <a:solidFill>
                  <a:srgbClr val="409AD5"/>
                </a:solidFill>
              </a:rPr>
              <a:t>#FiltracionIdioma #Lingua #LimpiezaDatos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8559" y="4029894"/>
            <a:ext cx="10191307" cy="205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1344744" y="764773"/>
            <a:ext cx="10515600" cy="231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AR" sz="11200">
                <a:solidFill>
                  <a:schemeClr val="lt1"/>
                </a:solidFill>
              </a:rPr>
              <a:t>Resultados aplicando Lingua: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AR" sz="9600">
                <a:solidFill>
                  <a:schemeClr val="lt1"/>
                </a:solidFill>
              </a:rPr>
              <a:t>       10.900 tweets en español.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AR" sz="9600">
                <a:solidFill>
                  <a:schemeClr val="lt1"/>
                </a:solidFill>
              </a:rPr>
              <a:t>       154 en inglés.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9600"/>
              <a:t>🌍 </a:t>
            </a:r>
            <a:r>
              <a:rPr lang="es-AR" sz="9600">
                <a:solidFill>
                  <a:schemeClr val="lt1"/>
                </a:solidFill>
              </a:rPr>
              <a:t>57 sin idioma reconocido (entre ellos japonés, francés)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>
              <a:solidFill>
                <a:schemeClr val="lt1"/>
              </a:solidFill>
            </a:endParaRPr>
          </a:p>
          <a:p>
            <a:pPr marL="228600" lvl="0" indent="-184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7269" y="1965714"/>
            <a:ext cx="376906" cy="219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3863" y="1430326"/>
            <a:ext cx="383717" cy="2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3863" y="2826818"/>
            <a:ext cx="7799254" cy="343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24ED8D-6445-416B-D94F-12F6B742B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2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3fd853dd8_0_0"/>
          <p:cNvSpPr txBox="1"/>
          <p:nvPr/>
        </p:nvSpPr>
        <p:spPr>
          <a:xfrm>
            <a:off x="1215025" y="176200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Etiquetado de partes del discurso (POS tagging)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24" name="Google Shape;124;g363fd853dd8_0_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7400" y="1349438"/>
            <a:ext cx="4223878" cy="34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63fd853dd8_0_0"/>
          <p:cNvSpPr/>
          <p:nvPr/>
        </p:nvSpPr>
        <p:spPr>
          <a:xfrm>
            <a:off x="8196749" y="1500125"/>
            <a:ext cx="2079900" cy="803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1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725" tIns="108725" rIns="108725" bIns="108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65">
                <a:solidFill>
                  <a:schemeClr val="lt1"/>
                </a:solidFill>
              </a:rPr>
              <a:t>Enfoques basados en reglas</a:t>
            </a:r>
            <a:endParaRPr sz="1665">
              <a:solidFill>
                <a:schemeClr val="lt1"/>
              </a:solidFill>
            </a:endParaRPr>
          </a:p>
        </p:txBody>
      </p:sp>
      <p:sp>
        <p:nvSpPr>
          <p:cNvPr id="126" name="Google Shape;126;g363fd853dd8_0_0"/>
          <p:cNvSpPr/>
          <p:nvPr/>
        </p:nvSpPr>
        <p:spPr>
          <a:xfrm>
            <a:off x="8196749" y="2539599"/>
            <a:ext cx="2079900" cy="803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1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725" tIns="108725" rIns="108725" bIns="108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65">
                <a:solidFill>
                  <a:schemeClr val="lt1"/>
                </a:solidFill>
              </a:rPr>
              <a:t>Modelos estadísticos generativos</a:t>
            </a:r>
            <a:endParaRPr sz="1665">
              <a:solidFill>
                <a:schemeClr val="lt1"/>
              </a:solidFill>
            </a:endParaRPr>
          </a:p>
        </p:txBody>
      </p:sp>
      <p:sp>
        <p:nvSpPr>
          <p:cNvPr id="127" name="Google Shape;127;g363fd853dd8_0_0"/>
          <p:cNvSpPr/>
          <p:nvPr/>
        </p:nvSpPr>
        <p:spPr>
          <a:xfrm>
            <a:off x="8196749" y="3656119"/>
            <a:ext cx="2079900" cy="803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1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725" tIns="108725" rIns="108725" bIns="108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65">
                <a:solidFill>
                  <a:schemeClr val="lt1"/>
                </a:solidFill>
              </a:rPr>
              <a:t>Modelos discriminativos</a:t>
            </a:r>
            <a:endParaRPr sz="1665">
              <a:solidFill>
                <a:schemeClr val="lt1"/>
              </a:solidFill>
            </a:endParaRPr>
          </a:p>
        </p:txBody>
      </p:sp>
      <p:sp>
        <p:nvSpPr>
          <p:cNvPr id="128" name="Google Shape;128;g363fd853dd8_0_0"/>
          <p:cNvSpPr/>
          <p:nvPr/>
        </p:nvSpPr>
        <p:spPr>
          <a:xfrm>
            <a:off x="8196749" y="4682004"/>
            <a:ext cx="2079900" cy="803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1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725" tIns="108725" rIns="108725" bIns="108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65">
                <a:solidFill>
                  <a:schemeClr val="lt1"/>
                </a:solidFill>
              </a:rPr>
              <a:t>Redes neuronales</a:t>
            </a:r>
            <a:endParaRPr sz="1665">
              <a:solidFill>
                <a:schemeClr val="lt1"/>
              </a:solidFill>
            </a:endParaRPr>
          </a:p>
        </p:txBody>
      </p:sp>
      <p:cxnSp>
        <p:nvCxnSpPr>
          <p:cNvPr id="129" name="Google Shape;129;g363fd853dd8_0_0"/>
          <p:cNvCxnSpPr>
            <a:endCxn id="126" idx="0"/>
          </p:cNvCxnSpPr>
          <p:nvPr/>
        </p:nvCxnSpPr>
        <p:spPr>
          <a:xfrm>
            <a:off x="9236699" y="2303199"/>
            <a:ext cx="0" cy="236400"/>
          </a:xfrm>
          <a:prstGeom prst="straightConnector1">
            <a:avLst/>
          </a:prstGeom>
          <a:noFill/>
          <a:ln w="113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30;g363fd853dd8_0_0"/>
          <p:cNvCxnSpPr>
            <a:stCxn id="126" idx="2"/>
            <a:endCxn id="127" idx="0"/>
          </p:cNvCxnSpPr>
          <p:nvPr/>
        </p:nvCxnSpPr>
        <p:spPr>
          <a:xfrm>
            <a:off x="9236699" y="3342699"/>
            <a:ext cx="0" cy="313500"/>
          </a:xfrm>
          <a:prstGeom prst="straightConnector1">
            <a:avLst/>
          </a:prstGeom>
          <a:noFill/>
          <a:ln w="113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g363fd853dd8_0_0"/>
          <p:cNvCxnSpPr>
            <a:stCxn id="127" idx="2"/>
            <a:endCxn id="128" idx="0"/>
          </p:cNvCxnSpPr>
          <p:nvPr/>
        </p:nvCxnSpPr>
        <p:spPr>
          <a:xfrm>
            <a:off x="9236699" y="4459219"/>
            <a:ext cx="0" cy="222900"/>
          </a:xfrm>
          <a:prstGeom prst="straightConnector1">
            <a:avLst/>
          </a:prstGeom>
          <a:noFill/>
          <a:ln w="113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g363fd853dd8_0_0"/>
          <p:cNvSpPr txBox="1"/>
          <p:nvPr/>
        </p:nvSpPr>
        <p:spPr>
          <a:xfrm>
            <a:off x="10276361" y="1544728"/>
            <a:ext cx="1089600" cy="7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725" tIns="108725" rIns="108725" bIns="108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70">
                <a:solidFill>
                  <a:schemeClr val="lt1"/>
                </a:solidFill>
              </a:rPr>
              <a:t>Diccionarios léxicos y reglas</a:t>
            </a:r>
            <a:endParaRPr sz="1070">
              <a:solidFill>
                <a:schemeClr val="lt1"/>
              </a:solidFill>
            </a:endParaRPr>
          </a:p>
        </p:txBody>
      </p:sp>
      <p:sp>
        <p:nvSpPr>
          <p:cNvPr id="133" name="Google Shape;133;g363fd853dd8_0_0"/>
          <p:cNvSpPr txBox="1"/>
          <p:nvPr/>
        </p:nvSpPr>
        <p:spPr>
          <a:xfrm>
            <a:off x="10276361" y="2584203"/>
            <a:ext cx="10896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725" tIns="108725" rIns="108725" bIns="108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70">
                <a:solidFill>
                  <a:schemeClr val="lt1"/>
                </a:solidFill>
              </a:rPr>
              <a:t>HMM y variantes</a:t>
            </a:r>
            <a:endParaRPr sz="1070">
              <a:solidFill>
                <a:schemeClr val="lt1"/>
              </a:solidFill>
            </a:endParaRPr>
          </a:p>
        </p:txBody>
      </p:sp>
      <p:sp>
        <p:nvSpPr>
          <p:cNvPr id="134" name="Google Shape;134;g363fd853dd8_0_0"/>
          <p:cNvSpPr txBox="1"/>
          <p:nvPr/>
        </p:nvSpPr>
        <p:spPr>
          <a:xfrm>
            <a:off x="10276361" y="3700723"/>
            <a:ext cx="10896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725" tIns="108725" rIns="108725" bIns="108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70">
                <a:solidFill>
                  <a:schemeClr val="lt1"/>
                </a:solidFill>
              </a:rPr>
              <a:t>MaxEnt, MEMM, CRF</a:t>
            </a:r>
            <a:endParaRPr sz="1070">
              <a:solidFill>
                <a:schemeClr val="lt1"/>
              </a:solidFill>
            </a:endParaRPr>
          </a:p>
        </p:txBody>
      </p:sp>
      <p:pic>
        <p:nvPicPr>
          <p:cNvPr id="135" name="Google Shape;135;g363fd853dd8_0_0" title="64px-SpaCy_logo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3150" y="2950624"/>
            <a:ext cx="790259" cy="283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g363fd853dd8_0_0"/>
          <p:cNvCxnSpPr>
            <a:stCxn id="128" idx="1"/>
            <a:endCxn id="135" idx="3"/>
          </p:cNvCxnSpPr>
          <p:nvPr/>
        </p:nvCxnSpPr>
        <p:spPr>
          <a:xfrm rot="10800000">
            <a:off x="7023449" y="3092754"/>
            <a:ext cx="1173300" cy="1990800"/>
          </a:xfrm>
          <a:prstGeom prst="straightConnector1">
            <a:avLst/>
          </a:prstGeom>
          <a:noFill/>
          <a:ln w="1235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" name="Google Shape;137;g363fd853dd8_0_0"/>
          <p:cNvCxnSpPr>
            <a:stCxn id="135" idx="1"/>
            <a:endCxn id="124" idx="3"/>
          </p:cNvCxnSpPr>
          <p:nvPr/>
        </p:nvCxnSpPr>
        <p:spPr>
          <a:xfrm rot="10800000">
            <a:off x="5791250" y="3092623"/>
            <a:ext cx="441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" name="Google Shape;138;g363fd853dd8_0_0"/>
          <p:cNvSpPr txBox="1">
            <a:spLocks noGrp="1"/>
          </p:cNvSpPr>
          <p:nvPr>
            <p:ph type="body" idx="1"/>
          </p:nvPr>
        </p:nvSpPr>
        <p:spPr>
          <a:xfrm>
            <a:off x="509250" y="4936200"/>
            <a:ext cx="7198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La librería elegida para realizar esta tarea (spaCy) utiliza modelos basados en redes neuronales y siguen las etiquetas UPOS (Universal Part-of-Speech).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52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785497D-CDD3-C126-708E-6E61B22A7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15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3fd853dd8_0_24"/>
          <p:cNvSpPr txBox="1"/>
          <p:nvPr/>
        </p:nvSpPr>
        <p:spPr>
          <a:xfrm>
            <a:off x="1378500" y="216425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Sustantivos (POS tagging)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44" name="Google Shape;144;g363fd853dd8_0_24" title="newplot (1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2850" y="3765725"/>
            <a:ext cx="2437250" cy="24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63fd853dd8_0_24" title="newplot (1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2850" y="1072750"/>
            <a:ext cx="2437250" cy="24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63fd853dd8_0_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3825" y="1025512"/>
            <a:ext cx="6404226" cy="33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63fd853dd8_0_24"/>
          <p:cNvSpPr txBox="1">
            <a:spLocks noGrp="1"/>
          </p:cNvSpPr>
          <p:nvPr>
            <p:ph type="body" idx="1"/>
          </p:nvPr>
        </p:nvSpPr>
        <p:spPr>
          <a:xfrm>
            <a:off x="4166850" y="4555200"/>
            <a:ext cx="7645200" cy="14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Observamos por un lado, las keywords que se utilizaron para realizar la recolección de datos. Por otro lado, términos que nos dan indicios de los tópicos que podemos llegar a encontrar, como salud, problema, dieta, diabetes.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52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302A5B3-88A3-2FFE-94DE-B2D16D6E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3fd853dd8_0_52"/>
          <p:cNvSpPr txBox="1">
            <a:spLocks noGrp="1"/>
          </p:cNvSpPr>
          <p:nvPr>
            <p:ph type="body" idx="1"/>
          </p:nvPr>
        </p:nvSpPr>
        <p:spPr>
          <a:xfrm>
            <a:off x="4166850" y="4555200"/>
            <a:ext cx="71982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Observamos varios descriptores físicos como "flaco", "delgado" y "grande". También varios términos relacionados con la salud y muchos adjetivos que expresan juicios explícitamente negativos.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52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53" name="Google Shape;153;g363fd853dd8_0_52"/>
          <p:cNvSpPr txBox="1"/>
          <p:nvPr/>
        </p:nvSpPr>
        <p:spPr>
          <a:xfrm>
            <a:off x="1212575" y="216425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Adjetivos (POS tagging)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54" name="Google Shape;154;g363fd853dd8_0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4900" y="1076003"/>
            <a:ext cx="6404226" cy="3344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63fd853dd8_0_52" title="newplot (16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2575" y="3646150"/>
            <a:ext cx="2437250" cy="24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63fd853dd8_0_52" title="newplot (15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5900" y="953575"/>
            <a:ext cx="2437250" cy="24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8B5BA7-1E6C-D571-8575-22BC38250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93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3fd853dd8_0_68"/>
          <p:cNvSpPr txBox="1">
            <a:spLocks noGrp="1"/>
          </p:cNvSpPr>
          <p:nvPr>
            <p:ph type="body" idx="1"/>
          </p:nvPr>
        </p:nvSpPr>
        <p:spPr>
          <a:xfrm>
            <a:off x="1331800" y="1188775"/>
            <a:ext cx="10655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Utilizamos de manera exploratoria dos modelos, RoBERTuito de la librería Pysentimiento y el modelo Llama 3.2 8B. Con ambos obtuvimos resultados muy similares, un altísimo porcentaje de negatividad y muy pocos comentarios positivos.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52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62" name="Google Shape;162;g363fd853dd8_0_68"/>
          <p:cNvSpPr txBox="1"/>
          <p:nvPr/>
        </p:nvSpPr>
        <p:spPr>
          <a:xfrm>
            <a:off x="1350050" y="250550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Análisis del sent</a:t>
            </a:r>
            <a:r>
              <a:rPr lang="es-AR" sz="2800">
                <a:solidFill>
                  <a:schemeClr val="lt1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imiento en los tweets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63" name="Google Shape;163;g363fd853dd8_0_68" title="newplot (18).p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5625" y="2592325"/>
            <a:ext cx="3528375" cy="352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63fd853dd8_0_68" title="newplot (17).pn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7325" y="2577563"/>
            <a:ext cx="3528375" cy="352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B8254BE-6752-0185-1BA6-FE5D8E40E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43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3fd853dd8_0_79"/>
          <p:cNvSpPr txBox="1"/>
          <p:nvPr/>
        </p:nvSpPr>
        <p:spPr>
          <a:xfrm>
            <a:off x="1378500" y="216425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Ejemplos de la clasificación con Llama (negativos)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70" name="Google Shape;170;g363fd853dd8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50" y="1989150"/>
            <a:ext cx="5681076" cy="103292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1" name="Google Shape;171;g363fd853dd8_0_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7903" y="3387075"/>
            <a:ext cx="6491424" cy="110909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g363fd853dd8_0_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525" y="4706621"/>
            <a:ext cx="6491425" cy="130522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3" name="Google Shape;173;g363fd853dd8_0_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34325" y="1567675"/>
            <a:ext cx="4834174" cy="1552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62B9-BEAE-0DE9-198A-C306FA19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9ACF2A-9492-3F9D-9EA3-B66180FA4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98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3fd853dd8_0_91"/>
          <p:cNvSpPr txBox="1"/>
          <p:nvPr/>
        </p:nvSpPr>
        <p:spPr>
          <a:xfrm>
            <a:off x="1389875" y="156150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Ejemplos de la clasificación con Llama (positivos)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79" name="Google Shape;179;g363fd853dd8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149" y="1555379"/>
            <a:ext cx="6934425" cy="1942563"/>
          </a:xfrm>
          <a:prstGeom prst="rect">
            <a:avLst/>
          </a:prstGeom>
          <a:noFill/>
          <a:ln w="19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0" name="Google Shape;180;g363fd853dd8_0_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149" y="3745005"/>
            <a:ext cx="6934425" cy="1864220"/>
          </a:xfrm>
          <a:prstGeom prst="rect">
            <a:avLst/>
          </a:prstGeom>
          <a:noFill/>
          <a:ln w="19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" name="Google Shape;181;g363fd853dd8_0_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9875" y="1555379"/>
            <a:ext cx="3069204" cy="4053846"/>
          </a:xfrm>
          <a:prstGeom prst="rect">
            <a:avLst/>
          </a:prstGeom>
          <a:noFill/>
          <a:ln w="19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50E937-448D-7962-05BB-BC97F03B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11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63fd853dd8_0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174" y="2541375"/>
            <a:ext cx="3996850" cy="35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63fd853dd8_0_103"/>
          <p:cNvSpPr txBox="1">
            <a:spLocks noGrp="1"/>
          </p:cNvSpPr>
          <p:nvPr>
            <p:ph type="body" idx="1"/>
          </p:nvPr>
        </p:nvSpPr>
        <p:spPr>
          <a:xfrm>
            <a:off x="1966150" y="901025"/>
            <a:ext cx="9354600" cy="15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💬(Sobre la correlación entre variables de interacción)</a:t>
            </a: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🕰️(Sobre la correlación entre nro de oraciones, sustantivos y verbos)</a:t>
            </a: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>
                <a:solidFill>
                  <a:schemeClr val="lt1"/>
                </a:solidFill>
              </a:rPr>
              <a:t>🎭(Cuestionamiento sobre la utilidad del p-valor)</a:t>
            </a: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52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88" name="Google Shape;188;g363fd853dd8_0_103"/>
          <p:cNvSpPr txBox="1"/>
          <p:nvPr/>
        </p:nvSpPr>
        <p:spPr>
          <a:xfrm>
            <a:off x="1372800" y="278875"/>
            <a:ext cx="8520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</a:rPr>
              <a:t>Comentarios sobre los análisis estadísticos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475</Words>
  <Application>Microsoft Office PowerPoint</Application>
  <PresentationFormat>Panorámica</PresentationFormat>
  <Paragraphs>56</Paragraphs>
  <Slides>20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usuario</cp:lastModifiedBy>
  <cp:revision>2</cp:revision>
  <dcterms:created xsi:type="dcterms:W3CDTF">2025-08-08T15:33:09Z</dcterms:created>
  <dcterms:modified xsi:type="dcterms:W3CDTF">2025-08-10T06:55:34Z</dcterms:modified>
</cp:coreProperties>
</file>